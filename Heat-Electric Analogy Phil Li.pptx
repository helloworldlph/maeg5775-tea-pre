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89756-1956-4CE4-8530-CEAD6AD33834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A6311-11E4-4770-9A65-A7CCD7433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966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A6311-11E4-4770-9A65-A7CCD7433E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546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3C332-504F-D913-6178-34CB9BD5D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BA1013-ADAC-22C3-B9FE-5CFBFECFB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B38D2-3E90-83AA-D2A2-51D4A643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02FC35-0394-010C-B1C3-0DE9245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106D89-3E31-AEA8-E58C-E6E1016B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5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74166-CA73-849B-FD10-CF9BA6D1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0236B8-6B20-2B4C-1164-ABEC2B840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02C8A9-61A8-B6C5-7EAB-47D79E17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1E6C9-1B73-DB5F-68A3-59775394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24E07D-9D7C-067E-C4F1-8DE8BFF8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48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0D768-847E-55CD-98CA-7A904DD3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639E08-E967-649B-90D6-6AF463133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43F916-6B8E-C945-D999-BD7ECE79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0AC8B5-9DBE-98E5-3418-AE6BAF04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328746-C5F5-DAF4-21E5-99252F27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42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E7C49-017A-9C39-D8FC-02D66ACD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3C17E-0420-2998-74C2-F2D56D2C99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89A098-243D-57E7-8C72-B7C02165F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9363F1-ACEB-0C57-4EEE-3442332E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EB3D72-CBC4-DB4F-5F07-7F1BAA3D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D375FD-02B9-7DEC-6C7A-C9ECAEA5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2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6536A-DED2-2C9B-5013-37E3802A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57C24-BAC4-180C-A7AD-B2DDBAAE3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7680C4-12CA-9DEC-073E-978CBED4D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C2E8AC-73E4-ECB1-37D3-B901E34BA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095C5B-4F79-80ED-DC3E-74C4415A8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69BC24-89B3-9460-FE1F-559DB374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AABC8B-A9C7-9F55-F9F6-45F40B3E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3A5AE0-A393-80C6-DBFB-5AEE1CD5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0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5DC53-257B-3803-F234-F037D11D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35E9D2-39F5-9D74-DFA1-F5499E39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0AAC24-D042-A6F8-6F57-43D754E8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462E52-706F-77F0-472C-040F176E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912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B145F0-5D9E-0FF6-19B5-E8AADA73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C8231B-341B-26B7-2713-A08278F1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0764AF-0358-19CE-095F-35020D441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53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9DE38-D2FA-4A0F-68B9-8C188C80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2BF1FF-8FBC-14C9-009C-9EED12CF4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292EAA-C66F-3243-DB04-53905C410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80FB54-66AF-27FE-AD2C-47CD50282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E613EA-8D85-C4AE-A8A0-B462AB38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E9FB24-399E-1F8D-C367-BBB81791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0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EC0BA-E384-C62A-93AA-85E551001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CB4E3F-4482-933F-A3BF-24432D451F5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7FC37E-5289-E0C9-024C-2BAC1E60C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681360-56E9-8129-A736-3AD80ACD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50337B-A103-C8F0-DC39-DAE29004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DFEBDB-E84A-8C70-E8EB-4AD499999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697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C8221-A324-73C0-CCEC-1DABD84E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1AEFC-6848-DC62-D5A4-A35E098B8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27A2C-E15E-4AD8-7ECA-54B5E5D1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1F0C08-2AC6-AB0A-51D9-E4998AF5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89189C-4F3E-1E0F-19B5-E0416C88F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0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981F4B-01CA-AF1C-E2FF-3BA0B8036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03ADC6-9E65-5C07-4D75-F9AA2B862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42F3A9-EE5B-29EE-A010-569DBF3F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EC6882-667E-EB8B-B9D9-A6D7509E6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0F3463-C155-AE93-453B-7929D851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28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2F75D2-03A3-BF18-BAF8-76E351AB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A023FE-250F-21FF-B49E-74F30A90C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FEA66-57D5-5290-AE06-191846CA60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073C9-1184-42D9-9630-16582E112766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7D0E83-E893-89AC-B5A5-0116B5F7B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1FBB4-CDE2-E791-E4FA-A25DDFEA5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D3C9D-FBD3-4581-A189-03E1EE1AC8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91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thermal-circuit-lab-maeg5775.jammypike6.chatgpt.sit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lipeiheng.phil@foxmail.com" TargetMode="External"/><Relationship Id="rId2" Type="http://schemas.openxmlformats.org/officeDocument/2006/relationships/hyperlink" Target="https://github.com/helloworldLPH/MAEG5775-TEA-Pr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1155241782@link.cuhk.edu.h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A4662EE5-6102-7199-7A34-FCB53AF7F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6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AA8877C-0718-9D61-A393-32867315A6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595B866-39DB-A87D-DF12-14F88D139170}"/>
              </a:ext>
            </a:extLst>
          </p:cNvPr>
          <p:cNvSpPr/>
          <p:nvPr/>
        </p:nvSpPr>
        <p:spPr>
          <a:xfrm>
            <a:off x="129654" y="771099"/>
            <a:ext cx="3814549" cy="304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0854EC-66B3-7422-3AF5-10FE00D219AB}"/>
              </a:ext>
            </a:extLst>
          </p:cNvPr>
          <p:cNvSpPr/>
          <p:nvPr/>
        </p:nvSpPr>
        <p:spPr>
          <a:xfrm>
            <a:off x="4121624" y="771099"/>
            <a:ext cx="3868657" cy="304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AE3DAC-B717-E001-BDBE-B53F23426714}"/>
              </a:ext>
            </a:extLst>
          </p:cNvPr>
          <p:cNvSpPr/>
          <p:nvPr/>
        </p:nvSpPr>
        <p:spPr>
          <a:xfrm>
            <a:off x="8167702" y="771099"/>
            <a:ext cx="3814549" cy="304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EFD2E4-F341-1163-DD80-08DE44FB4E3E}"/>
              </a:ext>
            </a:extLst>
          </p:cNvPr>
          <p:cNvSpPr/>
          <p:nvPr/>
        </p:nvSpPr>
        <p:spPr>
          <a:xfrm>
            <a:off x="129654" y="3946478"/>
            <a:ext cx="3832746" cy="304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D66E88-3010-4C40-BB71-040EEC03775C}"/>
              </a:ext>
            </a:extLst>
          </p:cNvPr>
          <p:cNvSpPr/>
          <p:nvPr/>
        </p:nvSpPr>
        <p:spPr>
          <a:xfrm>
            <a:off x="4148677" y="3946478"/>
            <a:ext cx="3814549" cy="304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BC52F1-BC89-7A7D-0FC2-FE9CB8E8D43C}"/>
              </a:ext>
            </a:extLst>
          </p:cNvPr>
          <p:cNvSpPr/>
          <p:nvPr/>
        </p:nvSpPr>
        <p:spPr>
          <a:xfrm>
            <a:off x="8167702" y="3946478"/>
            <a:ext cx="3894644" cy="304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92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942641E-95E5-F25B-BC1C-68FEC55FFBF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17"/>
          <a:stretch>
            <a:fillRect/>
          </a:stretch>
        </p:blipFill>
        <p:spPr>
          <a:xfrm>
            <a:off x="0" y="0"/>
            <a:ext cx="12191999" cy="650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89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5FC4593-8C77-D911-1FC8-2574F7FF4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99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C2B506-BE23-811D-15AC-BC1B7AE2A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70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FA226A08-4C27-1EF7-91F3-1EFF6F5D4FEF}"/>
              </a:ext>
            </a:extLst>
          </p:cNvPr>
          <p:cNvSpPr>
            <a:spLocks noGrp="1"/>
          </p:cNvSpPr>
          <p:nvPr/>
        </p:nvSpPr>
        <p:spPr>
          <a:xfrm>
            <a:off x="419100" y="219075"/>
            <a:ext cx="97155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Thermal Circuit Lab</a:t>
            </a:r>
          </a:p>
        </p:txBody>
      </p:sp>
      <p:sp>
        <p:nvSpPr>
          <p:cNvPr id="9" name="demo-link">
            <a:extLst>
              <a:ext uri="{FF2B5EF4-FFF2-40B4-BE49-F238E27FC236}">
                <a16:creationId xmlns:a16="http://schemas.microsoft.com/office/drawing/2014/main" id="{1D55AEAD-43C8-B6DD-06F6-25FCACDBDFF1}"/>
              </a:ext>
            </a:extLst>
          </p:cNvPr>
          <p:cNvSpPr>
            <a:spLocks noGrp="1"/>
          </p:cNvSpPr>
          <p:nvPr/>
        </p:nvSpPr>
        <p:spPr>
          <a:xfrm>
            <a:off x="10325100" y="390525"/>
            <a:ext cx="14382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r">
              <a:defRPr sz="14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087F72"/>
                </a:solidFill>
                <a:latin typeface="Segoe UI"/>
                <a:ea typeface="Segoe UI"/>
                <a:cs typeface="Segoe UI"/>
                <a:hlinkClick r:id="rId2"/>
              </a:rPr>
              <a:t>Open web app</a:t>
            </a:r>
          </a:p>
        </p:txBody>
      </p:sp>
      <p:sp>
        <p:nvSpPr>
          <p:cNvPr id="11" name="introduction">
            <a:extLst>
              <a:ext uri="{FF2B5EF4-FFF2-40B4-BE49-F238E27FC236}">
                <a16:creationId xmlns:a16="http://schemas.microsoft.com/office/drawing/2014/main" id="{AB408018-B0FC-1626-4B19-FEC51B153E3B}"/>
              </a:ext>
            </a:extLst>
          </p:cNvPr>
          <p:cNvSpPr>
            <a:spLocks noGrp="1"/>
          </p:cNvSpPr>
          <p:nvPr/>
        </p:nvSpPr>
        <p:spPr>
          <a:xfrm>
            <a:off x="428625" y="885825"/>
            <a:ext cx="113347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An interactive RC simulator for testing materials, weather inputs and AC control.</a:t>
            </a:r>
          </a:p>
        </p:txBody>
      </p:sp>
      <p:sp>
        <p:nvSpPr>
          <p:cNvPr id="13" name="case-context">
            <a:extLst>
              <a:ext uri="{FF2B5EF4-FFF2-40B4-BE49-F238E27FC236}">
                <a16:creationId xmlns:a16="http://schemas.microsoft.com/office/drawing/2014/main" id="{185A1640-3C24-442D-4F20-F83DF6484B95}"/>
              </a:ext>
            </a:extLst>
          </p:cNvPr>
          <p:cNvSpPr>
            <a:spLocks noGrp="1"/>
          </p:cNvSpPr>
          <p:nvPr/>
        </p:nvSpPr>
        <p:spPr>
          <a:xfrm>
            <a:off x="428625" y="1304925"/>
            <a:ext cx="113347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350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57883"/>
                </a:solidFill>
                <a:latin typeface="Segoe UI"/>
                <a:ea typeface="Segoe UI"/>
                <a:cs typeface="Segoe UI"/>
              </a:rPr>
              <a:t>Case: Hong Kong, 28 Oct 2026. Room: 10 × 10 × 5 m. Four walls and a roof.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85FC1FE-31AD-5932-25F2-B54053925C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0" t="24818" r="4894" b="12228"/>
          <a:stretch/>
        </p:blipFill>
        <p:spPr>
          <a:xfrm>
            <a:off x="428625" y="1685925"/>
            <a:ext cx="5286375" cy="41148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7128256-597A-517D-5BD3-88EC8D58C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2" t="55783" r="292"/>
          <a:stretch/>
        </p:blipFill>
        <p:spPr>
          <a:xfrm>
            <a:off x="6191250" y="1685925"/>
            <a:ext cx="5572125" cy="4114800"/>
          </a:xfrm>
          <a:prstGeom prst="rect">
            <a:avLst/>
          </a:prstGeom>
        </p:spPr>
      </p:pic>
      <p:sp>
        <p:nvSpPr>
          <p:cNvPr id="19" name="model-feature-heading">
            <a:extLst>
              <a:ext uri="{FF2B5EF4-FFF2-40B4-BE49-F238E27FC236}">
                <a16:creationId xmlns:a16="http://schemas.microsoft.com/office/drawing/2014/main" id="{A58B9A6E-20FF-5B91-61C9-59F4A0ED3ED7}"/>
              </a:ext>
            </a:extLst>
          </p:cNvPr>
          <p:cNvSpPr>
            <a:spLocks noGrp="1"/>
          </p:cNvSpPr>
          <p:nvPr/>
        </p:nvSpPr>
        <p:spPr>
          <a:xfrm>
            <a:off x="428625" y="5905500"/>
            <a:ext cx="52863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Build the room model</a:t>
            </a:r>
          </a:p>
        </p:txBody>
      </p:sp>
      <p:sp>
        <p:nvSpPr>
          <p:cNvPr id="21" name="model-feature-details">
            <a:extLst>
              <a:ext uri="{FF2B5EF4-FFF2-40B4-BE49-F238E27FC236}">
                <a16:creationId xmlns:a16="http://schemas.microsoft.com/office/drawing/2014/main" id="{BB8DC408-3DB8-D55E-D401-60E8758A522F}"/>
              </a:ext>
            </a:extLst>
          </p:cNvPr>
          <p:cNvSpPr>
            <a:spLocks noGrp="1"/>
          </p:cNvSpPr>
          <p:nvPr/>
        </p:nvSpPr>
        <p:spPr>
          <a:xfrm>
            <a:off x="428625" y="6219825"/>
            <a:ext cx="528637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57883"/>
                </a:solidFill>
                <a:latin typeface="Segoe UI"/>
                <a:ea typeface="Segoe UI"/>
                <a:cs typeface="Segoe UI"/>
              </a:rPr>
              <a:t>Choose material presets and edit R, C and S.</a:t>
            </a:r>
          </a:p>
          <a:p>
            <a: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57883"/>
                </a:solidFill>
                <a:latin typeface="Segoe UI"/>
                <a:ea typeface="Segoe UI"/>
                <a:cs typeface="Segoe UI"/>
              </a:rPr>
              <a:t>Set cooling power and on/off thresholds.</a:t>
            </a:r>
          </a:p>
        </p:txBody>
      </p:sp>
      <p:sp>
        <p:nvSpPr>
          <p:cNvPr id="23" name="response-feature-heading">
            <a:extLst>
              <a:ext uri="{FF2B5EF4-FFF2-40B4-BE49-F238E27FC236}">
                <a16:creationId xmlns:a16="http://schemas.microsoft.com/office/drawing/2014/main" id="{4E436782-ED43-29A8-0538-CA6421FBC5F5}"/>
              </a:ext>
            </a:extLst>
          </p:cNvPr>
          <p:cNvSpPr>
            <a:spLocks noGrp="1"/>
          </p:cNvSpPr>
          <p:nvPr/>
        </p:nvSpPr>
        <p:spPr>
          <a:xfrm>
            <a:off x="6191250" y="5905500"/>
            <a:ext cx="55721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7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Edit inputs and compare temperatures</a:t>
            </a:r>
          </a:p>
        </p:txBody>
      </p:sp>
      <p:sp>
        <p:nvSpPr>
          <p:cNvPr id="25" name="response-feature-details">
            <a:extLst>
              <a:ext uri="{FF2B5EF4-FFF2-40B4-BE49-F238E27FC236}">
                <a16:creationId xmlns:a16="http://schemas.microsoft.com/office/drawing/2014/main" id="{DD7C5918-FE44-922C-7CE0-8429342B4BF2}"/>
              </a:ext>
            </a:extLst>
          </p:cNvPr>
          <p:cNvSpPr>
            <a:spLocks noGrp="1"/>
          </p:cNvSpPr>
          <p:nvPr/>
        </p:nvSpPr>
        <p:spPr>
          <a:xfrm>
            <a:off x="6191250" y="6219825"/>
            <a:ext cx="5572125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57883"/>
                </a:solidFill>
                <a:latin typeface="Segoe UI"/>
                <a:ea typeface="Segoe UI"/>
                <a:cs typeface="Segoe UI"/>
              </a:rPr>
              <a:t>Drag outdoor temperature and solar curves.</a:t>
            </a:r>
          </a:p>
          <a:p>
            <a:pPr algn="l">
              <a:defRPr sz="1725" b="0">
                <a:solidFill>
                  <a:srgbClr val="65788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657883"/>
                </a:solidFill>
                <a:latin typeface="Segoe UI"/>
                <a:ea typeface="Segoe UI"/>
                <a:cs typeface="Segoe UI"/>
              </a:rPr>
              <a:t>Compare wall and indoor air temperatures over 24 hours.</a:t>
            </a:r>
          </a:p>
        </p:txBody>
      </p:sp>
    </p:spTree>
    <p:extLst>
      <p:ext uri="{BB962C8B-B14F-4D97-AF65-F5344CB8AC3E}">
        <p14:creationId xmlns:p14="http://schemas.microsoft.com/office/powerpoint/2010/main" val="326374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AC5F5161-F840-CE5F-18AB-B758600E203C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13538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32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Summary &amp; Declarations</a:t>
            </a:r>
          </a:p>
        </p:txBody>
      </p:sp>
      <p:sp>
        <p:nvSpPr>
          <p:cNvPr id="7" name="prediction-summary">
            <a:extLst>
              <a:ext uri="{FF2B5EF4-FFF2-40B4-BE49-F238E27FC236}">
                <a16:creationId xmlns:a16="http://schemas.microsoft.com/office/drawing/2014/main" id="{89116809-C3AD-DE4E-3C0E-77CA953EB999}"/>
              </a:ext>
            </a:extLst>
          </p:cNvPr>
          <p:cNvSpPr>
            <a:spLocks noGrp="1"/>
          </p:cNvSpPr>
          <p:nvPr/>
        </p:nvSpPr>
        <p:spPr>
          <a:xfrm>
            <a:off x="476250" y="1123950"/>
            <a:ext cx="112871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325" b="1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Estimate a building’s indoor temperature for a chosen day,</a:t>
            </a:r>
          </a:p>
        </p:txBody>
      </p:sp>
      <p:sp>
        <p:nvSpPr>
          <p:cNvPr id="9" name="construction-summary">
            <a:extLst>
              <a:ext uri="{FF2B5EF4-FFF2-40B4-BE49-F238E27FC236}">
                <a16:creationId xmlns:a16="http://schemas.microsoft.com/office/drawing/2014/main" id="{D30D59EA-C22D-A924-6130-96227D7B20BE}"/>
              </a:ext>
            </a:extLst>
          </p:cNvPr>
          <p:cNvSpPr>
            <a:spLocks noGrp="1"/>
          </p:cNvSpPr>
          <p:nvPr/>
        </p:nvSpPr>
        <p:spPr>
          <a:xfrm>
            <a:off x="476250" y="1533525"/>
            <a:ext cx="1128712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32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087F72"/>
                </a:solidFill>
                <a:latin typeface="Segoe UI"/>
                <a:ea typeface="Segoe UI"/>
                <a:cs typeface="Segoe UI"/>
              </a:rPr>
              <a:t>even before construction is complete.</a:t>
            </a:r>
          </a:p>
        </p:txBody>
      </p:sp>
      <p:sp>
        <p:nvSpPr>
          <p:cNvPr id="11" name="control-summary">
            <a:extLst>
              <a:ext uri="{FF2B5EF4-FFF2-40B4-BE49-F238E27FC236}">
                <a16:creationId xmlns:a16="http://schemas.microsoft.com/office/drawing/2014/main" id="{FEC7D702-EF71-27B3-C91F-9A7CC0B0DE5E}"/>
              </a:ext>
            </a:extLst>
          </p:cNvPr>
          <p:cNvSpPr>
            <a:spLocks noGrp="1"/>
          </p:cNvSpPr>
          <p:nvPr/>
        </p:nvSpPr>
        <p:spPr>
          <a:xfrm>
            <a:off x="476250" y="2143125"/>
            <a:ext cx="11287125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Guide AC and HVAC operation to help save energy</a:t>
            </a:r>
          </a:p>
          <a:p>
            <a:pPr algn="l">
              <a:defRPr sz="2025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and shift demand away from peak electricity hours.</a:t>
            </a:r>
          </a:p>
        </p:txBody>
      </p:sp>
      <p:sp>
        <p:nvSpPr>
          <p:cNvPr id="13" name="design-heading">
            <a:extLst>
              <a:ext uri="{FF2B5EF4-FFF2-40B4-BE49-F238E27FC236}">
                <a16:creationId xmlns:a16="http://schemas.microsoft.com/office/drawing/2014/main" id="{80669876-7841-432F-0DC5-F6D3A9DF083A}"/>
              </a:ext>
            </a:extLst>
          </p:cNvPr>
          <p:cNvSpPr>
            <a:spLocks noGrp="1"/>
          </p:cNvSpPr>
          <p:nvPr/>
        </p:nvSpPr>
        <p:spPr>
          <a:xfrm>
            <a:off x="476250" y="334327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87F72"/>
                </a:solidFill>
                <a:latin typeface="Segoe UI"/>
                <a:ea typeface="Segoe UI"/>
                <a:cs typeface="Segoe UI"/>
              </a:rPr>
              <a:t>Design assistance</a:t>
            </a:r>
          </a:p>
        </p:txBody>
      </p:sp>
      <p:sp>
        <p:nvSpPr>
          <p:cNvPr id="15" name="design-declaration">
            <a:extLst>
              <a:ext uri="{FF2B5EF4-FFF2-40B4-BE49-F238E27FC236}">
                <a16:creationId xmlns:a16="http://schemas.microsoft.com/office/drawing/2014/main" id="{D67DCE05-5C09-C72C-AC6C-5DC14A56A398}"/>
              </a:ext>
            </a:extLst>
          </p:cNvPr>
          <p:cNvSpPr>
            <a:spLocks noGrp="1"/>
          </p:cNvSpPr>
          <p:nvPr/>
        </p:nvSpPr>
        <p:spPr>
          <a:xfrm>
            <a:off x="476250" y="3724275"/>
            <a:ext cx="5334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Codex helped design this presentation.</a:t>
            </a:r>
          </a:p>
        </p:txBody>
      </p:sp>
      <p:sp>
        <p:nvSpPr>
          <p:cNvPr id="17" name="contributors-heading">
            <a:extLst>
              <a:ext uri="{FF2B5EF4-FFF2-40B4-BE49-F238E27FC236}">
                <a16:creationId xmlns:a16="http://schemas.microsoft.com/office/drawing/2014/main" id="{F690CD71-0F03-FF55-652C-685E34118841}"/>
              </a:ext>
            </a:extLst>
          </p:cNvPr>
          <p:cNvSpPr>
            <a:spLocks noGrp="1"/>
          </p:cNvSpPr>
          <p:nvPr/>
        </p:nvSpPr>
        <p:spPr>
          <a:xfrm>
            <a:off x="476250" y="459105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87F72"/>
                </a:solidFill>
                <a:latin typeface="Segoe UI"/>
                <a:ea typeface="Segoe UI"/>
                <a:cs typeface="Segoe UI"/>
              </a:rPr>
              <a:t>Contributions to the idea</a:t>
            </a:r>
          </a:p>
        </p:txBody>
      </p:sp>
      <p:sp>
        <p:nvSpPr>
          <p:cNvPr id="19" name="contributors">
            <a:extLst>
              <a:ext uri="{FF2B5EF4-FFF2-40B4-BE49-F238E27FC236}">
                <a16:creationId xmlns:a16="http://schemas.microsoft.com/office/drawing/2014/main" id="{406D2DC8-3803-CD7C-1327-F6F5C20E3A7A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Liu M.H., Song G.Y., Wang M.F.,</a:t>
            </a:r>
          </a:p>
          <a:p>
            <a: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C303B"/>
                </a:solidFill>
                <a:latin typeface="Segoe UI"/>
                <a:ea typeface="Segoe UI"/>
                <a:cs typeface="Segoe UI"/>
              </a:rPr>
              <a:t>Wang Z.C. and Guo L.Y.</a:t>
            </a:r>
          </a:p>
        </p:txBody>
      </p:sp>
      <p:sp>
        <p:nvSpPr>
          <p:cNvPr id="21" name="source-heading">
            <a:extLst>
              <a:ext uri="{FF2B5EF4-FFF2-40B4-BE49-F238E27FC236}">
                <a16:creationId xmlns:a16="http://schemas.microsoft.com/office/drawing/2014/main" id="{C030029B-400F-0BD8-8431-6E41DABDE3D4}"/>
              </a:ext>
            </a:extLst>
          </p:cNvPr>
          <p:cNvSpPr>
            <a:spLocks noGrp="1"/>
          </p:cNvSpPr>
          <p:nvPr/>
        </p:nvSpPr>
        <p:spPr>
          <a:xfrm>
            <a:off x="6286500" y="3343275"/>
            <a:ext cx="54768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87F72"/>
                </a:solidFill>
                <a:latin typeface="Segoe UI"/>
                <a:ea typeface="Segoe UI"/>
                <a:cs typeface="Segoe UI"/>
              </a:rPr>
              <a:t>Open source on GitHub</a:t>
            </a:r>
          </a:p>
        </p:txBody>
      </p:sp>
      <p:sp>
        <p:nvSpPr>
          <p:cNvPr id="23" name="repository-link">
            <a:extLst>
              <a:ext uri="{FF2B5EF4-FFF2-40B4-BE49-F238E27FC236}">
                <a16:creationId xmlns:a16="http://schemas.microsoft.com/office/drawing/2014/main" id="{014125D9-F793-7288-61C7-6E1EA3319E36}"/>
              </a:ext>
            </a:extLst>
          </p:cNvPr>
          <p:cNvSpPr>
            <a:spLocks noGrp="1"/>
          </p:cNvSpPr>
          <p:nvPr/>
        </p:nvSpPr>
        <p:spPr>
          <a:xfrm>
            <a:off x="6286500" y="3724275"/>
            <a:ext cx="5476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725" b="0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087F72"/>
                </a:solidFill>
                <a:latin typeface="Segoe UI"/>
                <a:ea typeface="Segoe UI"/>
                <a:cs typeface="Segoe UI"/>
                <a:hlinkClick r:id="rId2"/>
              </a:rPr>
              <a:t>https://github.com/helloworldLPH/MAEG5775-TEA-Pre</a:t>
            </a:r>
          </a:p>
        </p:txBody>
      </p:sp>
      <p:sp>
        <p:nvSpPr>
          <p:cNvPr id="25" name="contact-heading">
            <a:extLst>
              <a:ext uri="{FF2B5EF4-FFF2-40B4-BE49-F238E27FC236}">
                <a16:creationId xmlns:a16="http://schemas.microsoft.com/office/drawing/2014/main" id="{42B07452-AB61-9110-AFBB-4F513C745D1A}"/>
              </a:ext>
            </a:extLst>
          </p:cNvPr>
          <p:cNvSpPr>
            <a:spLocks noGrp="1"/>
          </p:cNvSpPr>
          <p:nvPr/>
        </p:nvSpPr>
        <p:spPr>
          <a:xfrm>
            <a:off x="6286500" y="4591050"/>
            <a:ext cx="54768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75" b="1">
                <a:solidFill>
                  <a:srgbClr val="087F7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87F72"/>
                </a:solidFill>
                <a:latin typeface="Segoe UI"/>
                <a:ea typeface="Segoe UI"/>
                <a:cs typeface="Segoe UI"/>
              </a:rPr>
              <a:t>Questions &amp; feedback</a:t>
            </a:r>
          </a:p>
        </p:txBody>
      </p:sp>
      <p:sp>
        <p:nvSpPr>
          <p:cNvPr id="27" name="contact-email-1">
            <a:extLst>
              <a:ext uri="{FF2B5EF4-FFF2-40B4-BE49-F238E27FC236}">
                <a16:creationId xmlns:a16="http://schemas.microsoft.com/office/drawing/2014/main" id="{626F5A7C-DCED-5B93-5030-BD32119D9355}"/>
              </a:ext>
            </a:extLst>
          </p:cNvPr>
          <p:cNvSpPr>
            <a:spLocks noGrp="1"/>
          </p:cNvSpPr>
          <p:nvPr/>
        </p:nvSpPr>
        <p:spPr>
          <a:xfrm>
            <a:off x="6286500" y="4972050"/>
            <a:ext cx="5476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C303B"/>
                </a:solidFill>
                <a:latin typeface="Segoe UI"/>
                <a:ea typeface="Segoe UI"/>
                <a:cs typeface="Segoe UI"/>
                <a:hlinkClick r:id="rId3"/>
              </a:rPr>
              <a:t>lipeiheng.phil@foxmail.com</a:t>
            </a:r>
          </a:p>
        </p:txBody>
      </p:sp>
      <p:sp>
        <p:nvSpPr>
          <p:cNvPr id="29" name="contact-email-2">
            <a:extLst>
              <a:ext uri="{FF2B5EF4-FFF2-40B4-BE49-F238E27FC236}">
                <a16:creationId xmlns:a16="http://schemas.microsoft.com/office/drawing/2014/main" id="{AEDD94CA-71BD-A12E-4BE4-B73170BF48FF}"/>
              </a:ext>
            </a:extLst>
          </p:cNvPr>
          <p:cNvSpPr>
            <a:spLocks noGrp="1"/>
          </p:cNvSpPr>
          <p:nvPr/>
        </p:nvSpPr>
        <p:spPr>
          <a:xfrm>
            <a:off x="6286500" y="5372100"/>
            <a:ext cx="54768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00" b="0">
                <a:solidFill>
                  <a:srgbClr val="1C303B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C303B"/>
                </a:solidFill>
                <a:latin typeface="Segoe UI"/>
                <a:ea typeface="Segoe UI"/>
                <a:cs typeface="Segoe UI"/>
                <a:hlinkClick r:id="rId4"/>
              </a:rPr>
              <a:t>1155241782@link.cuhk.edu.hk</a:t>
            </a:r>
          </a:p>
        </p:txBody>
      </p:sp>
    </p:spTree>
    <p:extLst>
      <p:ext uri="{BB962C8B-B14F-4D97-AF65-F5344CB8AC3E}">
        <p14:creationId xmlns:p14="http://schemas.microsoft.com/office/powerpoint/2010/main" val="1629437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198</Words>
  <Application>Microsoft Office PowerPoint</Application>
  <PresentationFormat>宽屏</PresentationFormat>
  <Paragraphs>26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佩恒 李</dc:creator>
  <cp:lastModifiedBy>佩恒 李</cp:lastModifiedBy>
  <cp:revision>2</cp:revision>
  <dcterms:created xsi:type="dcterms:W3CDTF">2026-10-24T14:51:02Z</dcterms:created>
  <dcterms:modified xsi:type="dcterms:W3CDTF">2026-10-25T04:25:47Z</dcterms:modified>
</cp:coreProperties>
</file>